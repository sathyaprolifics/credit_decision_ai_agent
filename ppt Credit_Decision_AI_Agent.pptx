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6" r:id="rId7"/>
    <p:sldId id="269" r:id="rId8"/>
    <p:sldId id="262" r:id="rId9"/>
    <p:sldId id="273" r:id="rId10"/>
    <p:sldId id="27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181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076EDA-146D-4919-9641-BF0E8ACDD43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99E06-4EF6-4231-9A7C-5A3BB9554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48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9587D-2189-4C26-BEDE-40ECA7A72F32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Implemented By Sathyanarayana Junku for Orchestrate AI Buildathon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5F22-1447-47E7-B291-B186C7696936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Implemented By Sathyanarayana Junku for Orchestrate AI Buildathon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0375-20AF-4267-8D68-E06A449D6A3B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Implemented By Sathyanarayana Junku for Orchestrate AI Buildathon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B6AF-02CD-429D-875F-0F365F23189A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Implemented By Sathyanarayana Junku for Orchestrate AI Buildathon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69BE1-F9A8-49A8-B625-D9E4160F25E4}" type="datetime1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Implemented By Sathyanarayana Junku for Orchestrate AI Buildathon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2A58C-467B-4526-BFF4-389D90E09B34}" type="datetime1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Implemented By Sathyanarayana Junku for Orchestrate AI Buildathon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D7517-EEAB-450E-97FB-177958F26343}" type="datetime1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Implemented By Sathyanarayana Junku for Orchestrate AI Buildathon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47FCC-EC11-434C-9812-1B8FDB7013EB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Implemented By Sathyanarayana Junku for Orchestrate AI Buildathon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88D9A-EEEF-45E6-ACD0-9E6B0FC3F0E3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Implemented By Sathyanarayana Junku for Orchestrate AI Buildathon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C4D1-AA27-4835-A6A2-D511E73D634B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Implemented By Sathyanarayana Junku for Orchestrate AI Buildathon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5A9B4-9D0B-4095-8558-1263D40C25E1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Implemented By Sathyanarayana Junku for Orchestrate AI Buildathon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EF82D-E721-496A-85F5-AFDB40B4DD61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Implemented By Sathyanarayana Junku for Orchestrate AI Buildathon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athya-lb-grafana-902283203.us-east-1.elb.amazonaws.com/public-dashboards/6e2907324d414bf9a9805cff9a32b646" TargetMode="External"/><Relationship Id="rId2" Type="http://schemas.openxmlformats.org/officeDocument/2006/relationships/hyperlink" Target="http://sathya-agenticai-lb-1991652349.us-east-1.elb.amazonaws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SathyaProlifics/Credit_Decision_AI_Agent" TargetMode="External"/><Relationship Id="rId5" Type="http://schemas.openxmlformats.org/officeDocument/2006/relationships/hyperlink" Target="http://sathya-lb-grafana-902283203.us-east-1.elb.amazonaws.com/" TargetMode="External"/><Relationship Id="rId4" Type="http://schemas.openxmlformats.org/officeDocument/2006/relationships/hyperlink" Target="http://sathya-lb-grafana-902283203.us-east-1.elb.amazonaws.com/dashboards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2974" y="1158903"/>
            <a:ext cx="8229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endParaRPr lang="en-US" dirty="0"/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🤖 </a:t>
            </a:r>
            <a:endParaRPr lang="en-US" dirty="0"/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lang="en-US" dirty="0"/>
              <a:t>Multi-AI Agent </a:t>
            </a:r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lang="en-US" dirty="0"/>
              <a:t>Credit Decision System</a:t>
            </a:r>
            <a:br>
              <a:rPr lang="en-US" dirty="0"/>
            </a:br>
            <a:endParaRPr lang="en-US" dirty="0"/>
          </a:p>
          <a:p>
            <a:pPr algn="ctr">
              <a:defRPr sz="54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4EA28-5398-CC23-4D3E-0EC9D61EA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62948" y="6492875"/>
            <a:ext cx="4747591" cy="365125"/>
          </a:xfrm>
        </p:spPr>
        <p:txBody>
          <a:bodyPr/>
          <a:lstStyle/>
          <a:p>
            <a:r>
              <a:rPr lang="en-US" dirty="0"/>
              <a:t>Implemented By Sathyanarayana Junku for </a:t>
            </a:r>
            <a:r>
              <a:rPr lang="en-US" b="1" dirty="0"/>
              <a:t>Orchestrate AI Buildathon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Traditional credit approval relies on Static rules, Limited bureau data and Manual underwriter overrides. 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⏱️ Manual Credit Decisions = SLOW (24-48 hours)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❌ Inconsistent Approval Criteria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📋 Huge Manual Workload (100s of forms daily)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🔒 Need for Audit Trail &amp; Compliance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💰 High Cost of Human Expert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CBDC6-D515-CA8B-F2F8-2194C290A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Implemented By Sathyanarayana Junku for Orchestrate AI Buildathon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93839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rPr dirty="0"/>
              <a:t>Our Solution: </a:t>
            </a:r>
            <a:r>
              <a:rPr lang="en-US" dirty="0"/>
              <a:t>Credit Decision Agent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✅ INSTANT Credit Decisions (seconds, not hours)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⚙️ 4 Autonomous AI Agents working in parallel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🔍 Consistent, Explainable Decision-Making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📊 Real-time Progress Tracking &amp; Results Dashboard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💡 Production-Ready with Full Audit Trail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05D15-E084-4590-6AC7-DACC33A9B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Implemented By Sathyanarayana Junku for Orchestrate AI Buildathon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The 4-Step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1️⃣ DataCollector Agent - Validates data completeness &amp; quality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2️⃣ RiskAssessor Agent - Evaluates credit risk using financial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3️⃣ DecisionMaker Agent - Makes APPROVE/DENY/REFER decision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4️⃣ Auditor Agent - Reviews entire flow for compliance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C226A-5D5E-E886-D8DF-0A1B0640B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Implemented By Sathyanarayana Junku for Orchestrate AI Buildathon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🎨 Frontend: </a:t>
            </a:r>
            <a:r>
              <a:rPr dirty="0" err="1"/>
              <a:t>Streamlit</a:t>
            </a:r>
            <a:r>
              <a:rPr dirty="0"/>
              <a:t> Web UI</a:t>
            </a: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🧠 Logic: Multi-Agent Orchestrator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🔧 Agents: 4 Independent AI Agents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🌐 Provider Layer: AWS Bedrock + OpenAI Support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💾 Backend: MySQL Database on AWS RDS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☁️ Deployment: </a:t>
            </a:r>
            <a:r>
              <a:rPr lang="en-US" dirty="0"/>
              <a:t>Local run or </a:t>
            </a:r>
            <a:r>
              <a:rPr dirty="0"/>
              <a:t>EC2 </a:t>
            </a:r>
            <a:r>
              <a:rPr lang="en-US" dirty="0"/>
              <a:t>on AWS</a:t>
            </a:r>
            <a:endParaRPr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3951E-CC67-A15D-75DC-6C9F53244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Implemented By Sathyanarayana Junku for Orchestrate AI Buildathon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Technical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496C8"/>
                </a:solidFill>
              </a:defRPr>
            </a:pPr>
            <a:r>
              <a:t>Core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• Python 3.11+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• AWS Bedrock (LLM)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• Strands Framework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• Streamlit (UI)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• MySQL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496C8"/>
                </a:solidFill>
              </a:defRPr>
            </a:pPr>
            <a:r>
              <a:t>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4114800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• EC2 t3.small</a:t>
            </a:r>
            <a:endParaRPr lang="en-US" dirty="0"/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rPr lang="en-US" dirty="0"/>
              <a:t>• RDS MySQL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lang="en-US" dirty="0"/>
              <a:t>• CloudWatch monitoring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rPr lang="en-US" dirty="0"/>
              <a:t>• Grafana Monitoring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rPr lang="en-US" dirty="0"/>
              <a:t>• Local Setup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endParaRPr lang="en-US" dirty="0"/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endParaRPr lang="en-US" dirty="0"/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endParaRPr lang="en-US" dirty="0"/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3FAD45-EF6F-50A1-D25D-67645D13F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Implemented By Sathyanarayana Junku for Orchestrate AI Buildathon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Innovation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✨ True Multi-Agent Architecture (4 independent agents)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🔄 Provider Abstraction Layer (switch LLMs without code)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📈 Input Chaining (step output → next step input)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🔒 End-to-End Compliance &amp; Audit Trail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⚡ Real-time Progress Polling &amp; Results Display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DD14D-BD60-3B15-900A-278C46AAA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Implemented By Sathyanarayana Junku for Orchestrate AI Buildathon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Provider Abstraction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399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🔄 Switch LLM Providers via Environment Variables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Used </a:t>
            </a:r>
            <a:r>
              <a:rPr dirty="0"/>
              <a:t>AWS Bedrock (Claude 3) - Cost: ~$0.012/application</a:t>
            </a: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If we want, we can switch below model based on cost utilization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OpenAI (GPT-4) - Cost: ~$0.027/application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Azure OpenAI - Enterprise </a:t>
            </a:r>
            <a:r>
              <a:rPr dirty="0" err="1"/>
              <a:t>VNet</a:t>
            </a:r>
            <a:r>
              <a:rPr dirty="0"/>
              <a:t> support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Note : </a:t>
            </a:r>
            <a:r>
              <a:rPr dirty="0"/>
              <a:t>NO CODE CHANGES to switch providers!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33455-81FF-4D70-3E30-9E57FD68B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Implemented By Sathyanarayana Junku for Orchestrate AI Buildathon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17E2C-12C5-C91C-955D-DDBE7051E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C8A854-18A9-0905-DFB0-133322B2A8A6}"/>
              </a:ext>
            </a:extLst>
          </p:cNvPr>
          <p:cNvSpPr txBox="1"/>
          <p:nvPr/>
        </p:nvSpPr>
        <p:spPr>
          <a:xfrm>
            <a:off x="344555" y="365760"/>
            <a:ext cx="80467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rPr lang="en-US" dirty="0"/>
              <a:t>Useful links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127082-6EB9-DA70-6F48-5C186021CC01}"/>
              </a:ext>
            </a:extLst>
          </p:cNvPr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4D2F80-F938-C5B3-8028-8375D54F4049}"/>
              </a:ext>
            </a:extLst>
          </p:cNvPr>
          <p:cNvSpPr txBox="1"/>
          <p:nvPr/>
        </p:nvSpPr>
        <p:spPr>
          <a:xfrm>
            <a:off x="731520" y="1463040"/>
            <a:ext cx="7772400" cy="5919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lang="en-US" sz="1600" b="1" u="sng" dirty="0"/>
              <a:t>AI Agent Public URL 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lang="en-US" sz="1600" dirty="0">
                <a:solidFill>
                  <a:srgbClr val="32323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http://Sathya-AgenticAI-LB-1991652349.us-east-1.elb.amazonaws.com</a:t>
            </a:r>
            <a:endParaRPr lang="en-US" sz="1600" dirty="0">
              <a:solidFill>
                <a:srgbClr val="323232"/>
              </a:solidFill>
            </a:endParaRPr>
          </a:p>
          <a:p>
            <a:pPr algn="ctr"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lang="en-US" sz="1600" b="1" u="sng" dirty="0"/>
              <a:t>Observability / Monitor Logs: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lang="en-US" sz="1600" dirty="0">
                <a:solidFill>
                  <a:srgbClr val="323232"/>
                </a:solidFill>
                <a:hlinkClick r:id="rId3"/>
              </a:rPr>
              <a:t>http://Sathya-LB-Grafana-902283203.us-east-1.elb.amazonaws.com/public-dashboards/6e2907324d414bf9a9805cff9a32b646</a:t>
            </a:r>
            <a:endParaRPr lang="en-US" sz="1600" dirty="0">
              <a:solidFill>
                <a:srgbClr val="323232"/>
              </a:solidFill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lang="en-US" sz="1600" dirty="0">
                <a:solidFill>
                  <a:srgbClr val="323232"/>
                </a:solidFill>
                <a:hlinkClick r:id="rId4"/>
              </a:rPr>
              <a:t>http://sathya-lb-grafana-902283203.us-east-1.elb.amazonaws.com/dashboards</a:t>
            </a:r>
            <a:endParaRPr lang="en-US" sz="1600" dirty="0">
              <a:solidFill>
                <a:srgbClr val="323232"/>
              </a:solidFill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lang="en-US" sz="1600" dirty="0">
                <a:solidFill>
                  <a:srgbClr val="323232"/>
                </a:solidFill>
                <a:hlinkClick r:id="rId5"/>
              </a:rPr>
              <a:t>http://Sathya-LB-Grafana-902283203.us-east-1.elb.amazonaws.com/</a:t>
            </a:r>
            <a:endParaRPr lang="en-US" sz="1600" dirty="0">
              <a:solidFill>
                <a:srgbClr val="323232"/>
              </a:solidFill>
            </a:endParaRPr>
          </a:p>
          <a:p>
            <a:pPr algn="ctr"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lang="en-US" sz="1600" b="1" u="sng" dirty="0" err="1">
                <a:solidFill>
                  <a:srgbClr val="323232"/>
                </a:solidFill>
              </a:rPr>
              <a:t>Github</a:t>
            </a:r>
            <a:r>
              <a:rPr lang="en-US" sz="1600" b="1" u="sng" dirty="0">
                <a:solidFill>
                  <a:srgbClr val="323232"/>
                </a:solidFill>
              </a:rPr>
              <a:t> Code 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lang="en-US" sz="1600" dirty="0">
                <a:solidFill>
                  <a:srgbClr val="323232"/>
                </a:solidFill>
                <a:hlinkClick r:id="rId6"/>
              </a:rPr>
              <a:t>https://github.com/SathyaProlifics/Credit_Decision_AI_Agent</a:t>
            </a:r>
            <a:endParaRPr lang="en-US" sz="1600" dirty="0">
              <a:solidFill>
                <a:srgbClr val="323232"/>
              </a:solidFill>
            </a:endParaRPr>
          </a:p>
          <a:p>
            <a:pPr algn="ctr"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lang="en-US" sz="1600" b="1" u="sng" dirty="0">
                <a:solidFill>
                  <a:srgbClr val="323232"/>
                </a:solidFill>
              </a:rPr>
              <a:t>Technical Details: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lang="en-US" sz="1600" dirty="0">
                <a:solidFill>
                  <a:srgbClr val="323232"/>
                </a:solidFill>
              </a:rPr>
              <a:t>https://github.com/SathyaProlifics/Credit_Decision_AI_Agent/blob/main/TECHNICAL_FLOW_DOCUMENTATION.md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lang="en-US" dirty="0"/>
              <a:t> </a:t>
            </a:r>
            <a:endParaRPr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8F602-275B-8571-036A-DE36573A3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Implemented By Sathyanarayana Junku for Orchestrate AI Buildathon</a:t>
            </a:r>
          </a:p>
        </p:txBody>
      </p:sp>
    </p:spTree>
    <p:extLst>
      <p:ext uri="{BB962C8B-B14F-4D97-AF65-F5344CB8AC3E}">
        <p14:creationId xmlns:p14="http://schemas.microsoft.com/office/powerpoint/2010/main" val="3207059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Ready to Transform Credit Decisions?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1E278-AE88-D4FD-F659-878DC8580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Implemented By Sathyanarayana Junku for Orchestrate AI Buildathon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7121</TotalTime>
  <Words>543</Words>
  <Application>Microsoft Office PowerPoint</Application>
  <PresentationFormat>On-screen Show (4:3)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Junku, Sathyanarayana</cp:lastModifiedBy>
  <cp:revision>35</cp:revision>
  <dcterms:created xsi:type="dcterms:W3CDTF">2013-01-27T09:14:16Z</dcterms:created>
  <dcterms:modified xsi:type="dcterms:W3CDTF">2026-02-17T02:23:28Z</dcterms:modified>
  <cp:category/>
</cp:coreProperties>
</file>